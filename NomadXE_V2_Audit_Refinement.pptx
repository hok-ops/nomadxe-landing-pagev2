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943600" cy="5943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284C7">
              <a:alpha val="8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43000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05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SYSTEM ACTIVE ] · AUDIT + REFINEMENT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NomadXE V2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audit to </a:t>
            </a:r>
            <a:pPr indent="0" marL="0">
              <a:buNone/>
            </a:pPr>
            <a:r>
              <a:rPr lang="en-US" sz="4800" b="1" i="1" spc="-1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</a:t>
            </a:r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code-level review paired with five expert roles — CRO, behavioral economist, UX researcher, brand strategist, copy strategist — applied with evidence-based psychology triggers to the landing page, dashboard, and onboarding.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5120640"/>
            <a:ext cx="2148840" cy="11430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1206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68680" y="585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ISSUES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5120640"/>
            <a:ext cx="2148840" cy="11430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51206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00400" y="585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ISSUES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5120640"/>
            <a:ext cx="2148840" cy="11430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51206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32120" y="585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ROLES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80960" y="5120640"/>
            <a:ext cx="2148840" cy="11430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5120640"/>
            <a:ext cx="54864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5212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863840" y="5852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FIXES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2026-04-23 · Full-stack + UI/UX + conversion scope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NomadXE stands today.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already beautiful, technically mature, and solving a real problem. These are the specific blockers between today's site and a world-class conversion machine.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743200" cy="1691640"/>
          </a:xfrm>
          <a:prstGeom prst="rect">
            <a:avLst/>
          </a:prstGeom>
          <a:solidFill>
            <a:srgbClr val="2A121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token leak · double-polling · null-vs-zero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73552" y="2377440"/>
            <a:ext cx="2743200" cy="1691640"/>
          </a:xfrm>
          <a:prstGeom prst="rect">
            <a:avLst/>
          </a:prstGeom>
          <a:solidFill>
            <a:srgbClr val="2A1D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2377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3456432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race · no invite rate-limit · contrast AA · 30s poll vs 15min log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2377440"/>
            <a:ext cx="2743200" cy="1691640"/>
          </a:xfrm>
          <a:prstGeom prst="rect">
            <a:avLst/>
          </a:prstGeom>
          <a:solidFill>
            <a:srgbClr val="2A220C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2377440"/>
            <a:ext cx="274320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364224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4224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intervals · fragile VRM parser · clock skew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89136" y="2377440"/>
            <a:ext cx="2743200" cy="1691640"/>
          </a:xfrm>
          <a:prstGeom prst="rect">
            <a:avLst/>
          </a:prstGeom>
          <a:solidFill>
            <a:srgbClr val="0B202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89136" y="23774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2016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9272016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72016" y="3520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validation · log hygiene · debug payload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TENSIONS IDENTIFIED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54880"/>
            <a:ext cx="2743200" cy="155448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role unclear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349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Victron telemetry is fleet-health — label it as such, not consumer energy.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3552" y="4754880"/>
            <a:ext cx="2743200" cy="155448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lacks proof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56432" y="5349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certifications, case studies, or named customers above the fold.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81344" y="4754880"/>
            <a:ext cx="2743200" cy="155448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secondary lead path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64224" y="5349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"Talk to Sales" alone — no low-friction asset-download or site-assessment option.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89136" y="4754880"/>
            <a:ext cx="2743200" cy="155448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Feature-first copy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72016" y="5349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"Trailer-mounted surveillance" described by capabilities, not operator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CODE &amp; SECURITY AUDIT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findings — ranked by severity.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items block safe scale. High items affect reliability and compliance posture.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1430000" cy="32004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1783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impact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03704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037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VRM polling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148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DashboardClient + NomadXECoreView both fire 30 s intervals. 10 units → 20 calls / 30 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32888"/>
            <a:ext cx="11430000" cy="365760"/>
          </a:xfrm>
          <a:prstGeom prst="rect">
            <a:avLst/>
          </a:prstGeom>
          <a:solidFill>
            <a:srgbClr val="0B0C10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87752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87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9728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state in debug body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25328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api/vrm/[siteId]/debug leaks token_ok to anyone with admin + network tab access.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16936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" y="29169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vs null VRM attributes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29169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pick() returns 0 on missing — indistinguishable from a genuine fault reading.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00984"/>
            <a:ext cx="11430000" cy="365760"/>
          </a:xfrm>
          <a:prstGeom prst="rect">
            <a:avLst/>
          </a:prstGeom>
          <a:solidFill>
            <a:srgbClr val="0B0C10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55848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55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" y="3300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poll vs 15-min VRM log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3009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diagnostics refresh every 1–15 min — 30s polling burns budget for no freshness.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739896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398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0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update / token-use race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3685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already changed when use-token fails; token remains valid.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solidFill>
            <a:srgbClr val="0B0C10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123944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9728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DB hit per request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re-verifies via service_role on every /admin request.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453128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507992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079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9728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rate-limit on invites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931920" y="4453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spam generate-link; no per-admin throttle.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837176"/>
            <a:ext cx="11430000" cy="365760"/>
          </a:xfrm>
          <a:prstGeom prst="rect">
            <a:avLst/>
          </a:prstGeom>
          <a:solidFill>
            <a:srgbClr val="0B0C10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89204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92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97280" y="4837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 contrast fails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31920" y="4837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text-white/30–40 on #0B0C10 in Hero, Features, Footer.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5221224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5276088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2760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97280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intervals in CoreView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931920" y="52212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dep on poll ref; accumulates on re-render.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5605272"/>
            <a:ext cx="11430000" cy="365760"/>
          </a:xfrm>
          <a:prstGeom prst="rect">
            <a:avLst/>
          </a:prstGeom>
          <a:solidFill>
            <a:srgbClr val="0B0C10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5660136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660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97280" y="5605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stats parser brittle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931920" y="5605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shape fallbacks, silently returns [] on mismatch.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6044184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044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9728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validation on tokens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931920" y="5989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use-token accepts any string into DB query.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POSITIONING CONFLICT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psychology, resolve the </a:t>
            </a:r>
            <a:pPr indent="0" marL="0">
              <a:buNone/>
            </a:pPr>
            <a:r>
              <a:rPr lang="en-US" sz="3200" b="1" i="1" spc="-1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split</a:t>
            </a:r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deploys mobile-surveillance trailers (LVT / Ecam / WCCTV category), powered by Alpha Vision's AI video-analytics platform (we're a certified deployment partner). Victron VRM is the unit-health layer keeping every trailer accountable. Rewrite the landing page to own that stack.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5577840" cy="2926080"/>
          </a:xfrm>
          <a:prstGeom prst="rect">
            <a:avLst/>
          </a:prstGeom>
          <a:solidFill>
            <a:srgbClr val="0B1F2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73152" cy="2926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TRAILER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(what you sell)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"Mobile surveillance, deployed where infrastructure isn't."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trailers · PTZ + night-vision · cellular backhaul · AI analytics powered by Alpha Vision (certified deployment partner). B2B, quote-based. Competitors: LVT, Ecam, WCCTV, Pro-Vigil.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5577840" cy="2926080"/>
          </a:xfrm>
          <a:prstGeom prst="rect">
            <a:avLst/>
          </a:prstGeom>
          <a:solidFill>
            <a:srgbClr val="0B20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286000"/>
            <a:ext cx="73152" cy="2926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FLEET-HEALTH TELEMETRY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(what it does for ops)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deployed unit, healthy and online."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41605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Victron VRM telemetry = unit-health &amp; power-health across the fleet. Answer: "Will this trailer still be powered tomorrow?" — not "How efficient is my van battery?"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solidFill>
            <a:srgbClr val="13151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623560"/>
            <a:ext cx="7315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687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hero narrative before layering any psychology. The same five role recommendations apply to either framing — but the copy, persona, and trust signals change materially.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FIVE ROLES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complementary roles, one refined site.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brings distinct psychology triggers. Together they cover the four conversion drivers: motivation, clarity, trust, and momentum.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1430000" cy="74980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39696"/>
            <a:ext cx="502920" cy="50292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 Specialist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32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· Von Restorff · Zeigarnik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primary lead-gen action, low-friction secondary asset, deployed-unit counter for live proof.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30000" cy="74980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08376"/>
            <a:ext cx="502920" cy="50292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Economist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300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 · Anchoring · Endowment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8803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theft-loss cost, not monthly price. Operator-facing commitment replaces consumer guarantees.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11430000" cy="74980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Researcher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169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 · Commitment-consistency · Peak-end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7490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Fleet-health JTBD: "Will this trailer still be powered tomorrow?" Ops-first dashboard hierarchy.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11430000" cy="74980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45736"/>
            <a:ext cx="502920" cy="50292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727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Strategist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5038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· Liking · Unity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46177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Victron Professional Dealer signal, UL/FCC certifications, named security-ops case studies.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5486400"/>
            <a:ext cx="11430000" cy="74980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614416"/>
            <a:ext cx="502920" cy="502920"/>
          </a:xfrm>
          <a:prstGeom prst="ellipse">
            <a:avLst/>
          </a:prstGeom>
          <a:solidFill>
            <a:srgbClr val="1A1D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614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34440" y="5596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Strategist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4440" y="5907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· Reciprocity · Scarcity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54864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Construction-site testimonial, free site-assessment PDF, honest capacity language ("Q3 60% booked").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ROLE ONE — CRO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primary ask. One low-friction asset. One live proof point.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BEHAVIOR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B=MAP. For cold security-ops traffic, ability is low — offer a low-friction asset (PDF) before the demo.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RESTORFF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effect: one distinct primary button; everything else is a text link.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ZEIGARNIK EFFECT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loops hold attention. A "deployed-units-online" ticker quietly does that.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577840" cy="265176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without boundaries.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deploys trailer-mounted surveillance systems to sites where traditional infrastructure doesn't reach — up and running in hours, not weeks.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463040" cy="320040"/>
          </a:xfrm>
          <a:prstGeom prst="roundRect">
            <a:avLst>
              <a:gd name="adj" fmla="val 5714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5577840" cy="2651760"/>
          </a:xfrm>
          <a:prstGeom prst="rect">
            <a:avLst/>
          </a:prstGeom>
          <a:solidFill>
            <a:srgbClr val="1A1D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 48 hours. Deter from day one.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cellular trailers running Alpha Vision AI analytics — we're their certified deployment partner. 142 units online across 37 sites, live.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1737360" cy="320040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deployment quote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440680"/>
            <a:ext cx="11430000" cy="960120"/>
          </a:xfrm>
          <a:prstGeom prst="rect">
            <a:avLst/>
          </a:prstGeom>
          <a:solidFill>
            <a:srgbClr val="0B20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dual CTAs into one primary ("Request deployment quote") and one text-link secondary ("Download site-assessment checklist"). A live deployed-unit counter replaces vanity metrics — it's real VRM telemetry, the same data ops already trusts.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ROLE TWO — BEHAVIORAL ECONOMIST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on the cost of the incident — not the cost of the service.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AVERSION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sting ~2× more than equivalent gains. Lead with what an unguarded site actually loses.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number shown becomes the reference. Lead with industry theft-loss figures.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ENDOWMENT EFFECT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operators see their own site in the dashboard demo, "churn" feels like losing visibility.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577840" cy="265176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plans to fit your needs.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for pricing tailored to your site profile. Volume discounts available for fleet deployments.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463040" cy="320040"/>
          </a:xfrm>
          <a:prstGeom prst="roundRect">
            <a:avLst>
              <a:gd name="adj" fmla="val 5714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5577840" cy="2651760"/>
          </a:xfrm>
          <a:prstGeom prst="rect">
            <a:avLst/>
          </a:prstGeom>
          <a:solidFill>
            <a:srgbClr val="1A1D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theft: $300M–$1B lost annually. One NomadXE trailer deters the scene it watches.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Monitored, cellular-uplinked trailers reduce site incidents — WCCTV case data cites up to 85% deterrence. We'll quote your site against your current loss-run.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1737360" cy="320040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loss-offset quote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440680"/>
            <a:ext cx="11430000" cy="960120"/>
          </a:xfrm>
          <a:prstGeom prst="rect">
            <a:avLst/>
          </a:prstGeom>
          <a:solidFill>
            <a:srgbClr val="2A121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price against theft-loss and downtime cost, not against competing SaaS. Operators buy outcomes: fewer incidents, lower insurance premiums, faster claims. Anchor high with incident cost; subscription becomes a rounding error.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ROLE THREE — UX RESEARCHER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the fleet job — not the raw Victron feed.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is asking: "Will this trailer still be powered tomorrow? Which unit needs a truck roll?"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COMMITMENT-CONSISTENCY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onboarding, have the admin declare their SLA (e.g. "30-min response on any fleet alert"). They'll hold themselves to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PEAK-END RULE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first dashboard session on the peak: a resolved alert, not a raw telemetry page.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577840" cy="265176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62% · Solar 412 W · DC 187 W · MPPT Bulk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sparklines of equal visual weight. Operator must know which number matters, when, and at what threshold.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463040" cy="320040"/>
          </a:xfrm>
          <a:prstGeom prst="roundRect">
            <a:avLst>
              <a:gd name="adj" fmla="val 5714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5577840" cy="2651760"/>
          </a:xfrm>
          <a:prstGeom prst="rect">
            <a:avLst/>
          </a:prstGeom>
          <a:solidFill>
            <a:srgbClr val="1A1D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#NX-07 · Powered-through-tomorrow: YES · Truck-roll needed: NO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Fleet-health verdicts above the fold. Last VRM sync: 3 min ago (Victron logs every 1–15 min). Raw metrics one click deeper, not front-and-centre.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1737360" cy="320040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&amp; note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440680"/>
            <a:ext cx="11430000" cy="960120"/>
          </a:xfrm>
          <a:prstGeom prst="rect">
            <a:avLst/>
          </a:prstGeom>
          <a:solidFill>
            <a:srgbClr val="0B20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every metric into the ops question it answers. "Powered tomorrow: YES/NO" beats "Battery SOC 62%" for every role except the installer. Be honest about VRM latency — it builds more trust than hiding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ROLE FOUR — BRAND STRATEGIST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operator persona. Real credentials. A story security directors recognise.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close procurement. UL-listed equipment · FCC ID · Victron Professional Dealer · Alpha Vision certified partner.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copy in the security director's voice — incidents, SLAs, truck-rolls, insurance. Not "adventure" or "freedom".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identity: "Built for the ops team that still gets called at 2 AM when a site goes dark."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577840" cy="265176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multiple Victron systems.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connects to your Victron system and provides real-time energy monitoring for any off-grid deployment.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463040" cy="320040"/>
          </a:xfrm>
          <a:prstGeom prst="roundRect">
            <a:avLst>
              <a:gd name="adj" fmla="val 5714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5577840" cy="2651760"/>
          </a:xfrm>
          <a:prstGeom prst="rect">
            <a:avLst/>
          </a:prstGeom>
          <a:solidFill>
            <a:srgbClr val="1A1D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surveillance trailers — engineered for the ops team that's still paged at 2 AM.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UL-listed · FCC-registered cellular uplink · Alpha Vision AI analytics (certified partner) · Victron Professional Dealer stack. One pane of glass for every deployed unit.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1737360" cy="320040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site assessment 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440680"/>
            <a:ext cx="11430000" cy="960120"/>
          </a:xfrm>
          <a:prstGeom prst="rect">
            <a:avLst/>
          </a:prstGeom>
          <a:solidFill>
            <a:srgbClr val="0B20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procurement-grade credentials (UL, FCC, Victron Professional Dealer, Alpha Vision certified partner) and a security-ops founder story — not a consumer narrative. Authority + liking + unity is how LVT, Ecam, and WCCTV close 6-figure PO cycles.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ROLE FIVE — COPY STRATEGIST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beats adjectives. Procurement-grade proof beats promises.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customers, named sites, specific outcomes — placed adjacent to each CTA, not buried in a carousel.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87952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70832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real value first: a free remote-site assessment PDF + ROI worksheet pre-fills procurement conversations.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657600" cy="658368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37360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13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93024" y="20299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capacity language: "Q3 deployment schedule — 60% booked" beats fake "only 3 left" countdowns.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5577840" cy="265176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889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6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get started?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and see what NomadXE can do for your off-grid site today. No commitment — explore our full suite of monitoring tools.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463040" cy="320040"/>
          </a:xfrm>
          <a:prstGeom prst="roundRect">
            <a:avLst>
              <a:gd name="adj" fmla="val 5714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06040"/>
            <a:ext cx="5577840" cy="2651760"/>
          </a:xfrm>
          <a:prstGeom prst="rect">
            <a:avLst/>
          </a:prstGeom>
          <a:solidFill>
            <a:srgbClr val="1A1D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7889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conversation. We'll tailor the deployment to your site.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4114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trailers on our 40-acre lay-down yard. Theft incidents dropped to zero in the first quarter." — Miguel R., Project Manager, Tier-1 GC · case study on request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754880"/>
            <a:ext cx="1737360" cy="320040"/>
          </a:xfrm>
          <a:prstGeom prst="roundRect">
            <a:avLst>
              <a:gd name="adj" fmla="val 57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5440680"/>
            <a:ext cx="11430000" cy="960120"/>
          </a:xfrm>
          <a:prstGeom prst="rect">
            <a:avLst/>
          </a:prstGeom>
          <a:solidFill>
            <a:srgbClr val="0B20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440680"/>
            <a:ext cx="73152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WIN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Name-checked case studies ("Tier-1 GC · 40-acre yard · zero incidents Q1") beat anonymous praise for procurement buyers. Lead with a low-pressure opener — site-walks, quotes, and checklists are follow-ups once the buyer signals interest, not the first ask.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TRUST SIGNALS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Procurement-grade trust signals NomadXE cannot skip.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directors, GCs, and logistics ops filter on credibility before they'll read a word of copy. All four belong above the fold.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5623560" cy="18288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rgbClr val="0B20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+ hardware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Vision certified deployment partner (AI video-analytics platform) · UL-listed cameras · FCC ID cellular uplink · Victron Professional Dealer. Badge row lives above the fold.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623560" cy="18288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423160"/>
            <a:ext cx="640080" cy="640080"/>
          </a:xfrm>
          <a:prstGeom prst="ellipse">
            <a:avLst/>
          </a:prstGeom>
          <a:solidFill>
            <a:srgbClr val="0B20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Audited fleet-uptime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29260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"99.4% rolling 90-day uptime across 142 deployed units." A public status-page link. Honest latency note: "Victron telemetry refreshes every 1–15 minutes."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5623560" cy="18288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0B20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case studies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GC, logistics hub, municipal yard — each with a site profile, outcome metric, and a quote. Cleared through the customer's PR team. Beats anonymous stars.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160520"/>
            <a:ext cx="5623560" cy="182880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434840"/>
            <a:ext cx="640080" cy="640080"/>
          </a:xfrm>
          <a:prstGeom prst="ellipse">
            <a:avLst/>
          </a:prstGeom>
          <a:solidFill>
            <a:srgbClr val="0B2024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shortcuts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Schedule contract (LVT's moat) · NET-30 terms · W-9 on request · SAM.gov registered. Each one removes one week of vendor-onboarding friction.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PATTERNS TO STEAL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world-class SaaS patterns worth emulating.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onto a specific NomadXE refinement we've already recommended.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657600" cy="393192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3657600" cy="64008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Badge-row + stat-row hero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NOMADXE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viewport: named-customer logos (GCs, retail, municipalities), then a stat row ("active units deployed · sites monitored · average deterrence rate"). Each one a clickable case study. Credibility before copy.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87952" y="2103120"/>
            <a:ext cx="3657600" cy="393192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87952" y="2103120"/>
            <a:ext cx="3657600" cy="64008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16552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Microcopy-driven minimalism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16552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NOMADXE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16552" y="40233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every paragraph-heavy section to three outcomes. Every headline names an operator outcome (site secured, theft deterred, insurance claim faster). Every CTA echoes the specific section it closes.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0144" y="2103120"/>
            <a:ext cx="3657600" cy="3931920"/>
          </a:xfrm>
          <a:prstGeom prst="rect">
            <a:avLst/>
          </a:prstGeom>
          <a:solidFill>
            <a:srgbClr val="13151A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0144" y="2103120"/>
            <a:ext cx="3657600" cy="640080"/>
          </a:xfrm>
          <a:prstGeom prst="rect">
            <a:avLst/>
          </a:prstGeom>
          <a:solidFill>
            <a:srgbClr val="1A1D24"/>
          </a:solidFill>
          <a:ln w="12700">
            <a:solidFill>
              <a:srgbClr val="262B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SAMSARA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38744" y="2880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Operator-pane-of-glass demo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38744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NOMADXE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38744" y="40233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embedded, muted dashboard video on the hero — one trailer's fleet-health card, one alert being acknowledged. Demos sell enterprise SaaS because they answer "What does my team see at 2 AM?" in 15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NOMADXE V2 · AUDIT &amp; REFINEMENT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37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world-class review to </a:t>
            </a:r>
            <a:pPr indent="0" marL="0">
              <a:lnSpc>
                <a:spcPct val="110000"/>
              </a:lnSpc>
              <a:buNone/>
            </a:pPr>
            <a:r>
              <a:rPr lang="en-US" sz="3000" b="1" i="1" spc="-1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 product</a:t>
            </a:r>
            <a:pPr indent="0" marL="0">
              <a:lnSpc>
                <a:spcPct val="110000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sequenced 30-day plan. Ship the code fixes first so the foundation is safe while the marketing refresh lands.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657600" cy="3657600"/>
          </a:xfrm>
          <a:prstGeom prst="rect">
            <a:avLst/>
          </a:prstGeom>
          <a:solidFill>
            <a:srgbClr val="2A121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36576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leaks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VRM polling — single parent interval, 5-min tick (match VRM log rate)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admin token state from /debug response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null vs 0 in pick() — VRM route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password-update + token-invalidate route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per-admin rate-limit on invite generation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2286000"/>
            <a:ext cx="3657600" cy="3657600"/>
          </a:xfrm>
          <a:prstGeom prst="rect">
            <a:avLst/>
          </a:prstGeom>
          <a:solidFill>
            <a:srgbClr val="0B202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7952" y="2286000"/>
            <a:ext cx="36576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70832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the B2B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70832" y="33375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hero for B2B surveillance (not energy-SaaS)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CTA: "Request deployment quote" · Secondary: site-assessment PDF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WCAG contrast fails (bump /30–40 → /60+)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row: UL · FCC · Victron Prof. Dealer · Alpha Vision partner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label: "Fleet-health" · honest VRM latency note (1–15 min)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0144" y="2286000"/>
            <a:ext cx="3657600" cy="3657600"/>
          </a:xfrm>
          <a:prstGeom prst="rect">
            <a:avLst/>
          </a:prstGeom>
          <a:solidFill>
            <a:srgbClr val="0E22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2286000"/>
            <a:ext cx="36576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93024" y="27614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it into a procurement machine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93024" y="333756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theft-loss ($300M–$1B industry) + named case studies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commitment copy (legal-reviewed, no consumer guarantees)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Fleet-health verdicts on dashboard — JTBD labels above raw metrics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testimonial adjacent to every CTA (cleared through customer PR)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remote-site-assessment PDF + ROI worksheet behind 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 ·  persistent sidebar artifact  ·  this deck  ·  full source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NomadXE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NomadXE V2 — Audit &amp; Refinement</dc:title>
  <dc:subject>PptxGenJS Presentation</dc:subject>
  <dc:creator>Audit Studio</dc:creator>
  <cp:lastModifiedBy>Audit Studio</cp:lastModifiedBy>
  <cp:revision>1</cp:revision>
  <dcterms:created xsi:type="dcterms:W3CDTF">2026-04-23T14:45:24Z</dcterms:created>
  <dcterms:modified xsi:type="dcterms:W3CDTF">2026-04-23T14:45:24Z</dcterms:modified>
</cp:coreProperties>
</file>